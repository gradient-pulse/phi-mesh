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84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86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323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object category. This is infrastructure, not a replacement model.
[Sources]
- Internal/user-provided T-Protocol materials and user-guided framing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institutional problem statement.
[Sources]
- Internal/user-provided T-Protocol materials and user-guided framing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 protocol was distilled from repeated testing into a cleaner object.
[Sources]
- Internal/user-provided T-Protocol materials and user-guided framing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3D878-95BE-BDAE-6AD6-604513C51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B4F72F-BA1B-DF74-892B-F2583F4DD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B3DDD4-45A0-3B4A-2891-AEB3B6F0B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 protocol was distilled from repeated testing into a cleaner object.
[Sources]
- Internal/user-provided T-Protocol materials and user-guided framing in this conversation.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D6E46-D480-1ED6-E117-D240A609F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44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imec slide. Emphasize embed-ready protocol logic and relevance to trusted infrastructure.
[Sources]
- Internal/user-provided T-Protocol materials and user-guided framing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a modest ask: protected review, not immediate adoption.
[Sources]
- Internal/user-provided T-Protocol materials and user-guided framing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1078992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6858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INSTITUTIONAL NOTE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</a:rPr>
              <a:t>T-Protocol is a coordination layer for AI systems that must keep their bearings over time.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0484" y="1979271"/>
            <a:ext cx="9692640" cy="2711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F766E"/>
                </a:solidFill>
              </a:rPr>
              <a:t>• </a:t>
            </a:r>
            <a:r>
              <a:rPr lang="en-US" sz="2100" dirty="0">
                <a:solidFill>
                  <a:srgbClr val="1F2937"/>
                </a:solidFill>
              </a:rPr>
              <a:t>not a new foundation model
</a:t>
            </a:r>
            <a:r>
              <a:rPr lang="en-US" sz="2100" b="1" dirty="0">
                <a:solidFill>
                  <a:srgbClr val="0F766E"/>
                </a:solidFill>
              </a:rPr>
              <a:t>• </a:t>
            </a:r>
            <a:r>
              <a:rPr lang="en-US" sz="2100" dirty="0">
                <a:solidFill>
                  <a:srgbClr val="1F2937"/>
                </a:solidFill>
              </a:rPr>
              <a:t>not another chatbot or agent swarm
</a:t>
            </a:r>
            <a:r>
              <a:rPr lang="en-US" sz="2100" b="1" dirty="0">
                <a:solidFill>
                  <a:srgbClr val="0F766E"/>
                </a:solidFill>
              </a:rPr>
              <a:t>• </a:t>
            </a:r>
            <a:r>
              <a:rPr lang="en-US" sz="2100" dirty="0">
                <a:solidFill>
                  <a:srgbClr val="1F2937"/>
                </a:solidFill>
              </a:rPr>
              <a:t>a bounded recursive layer around existing models
</a:t>
            </a:r>
            <a:r>
              <a:rPr lang="en-US" sz="2100" b="1" dirty="0">
                <a:solidFill>
                  <a:srgbClr val="0F766E"/>
                </a:solidFill>
              </a:rPr>
              <a:t>• </a:t>
            </a:r>
            <a:r>
              <a:rPr lang="en-US" sz="2100" dirty="0">
                <a:solidFill>
                  <a:srgbClr val="1F2937"/>
                </a:solidFill>
              </a:rPr>
              <a:t>designed for continuity, ambiguity handling, and recovery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Slide 1 of 6 · T-Protocol: </a:t>
            </a:r>
            <a:r>
              <a:rPr lang="en-US" sz="1100" b="1" i="1" dirty="0">
                <a:solidFill>
                  <a:srgbClr val="6B7280"/>
                </a:solidFill>
              </a:rPr>
              <a:t>What it is</a:t>
            </a:r>
            <a:endParaRPr lang="en-US" sz="11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1078992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6858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WHY 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</a:rPr>
              <a:t>Current AI is strong locally, but often weak across drift, contradiction, and changing context.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037723"/>
            <a:ext cx="9692640" cy="2782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F766E"/>
                </a:solidFill>
              </a:rPr>
              <a:t>• </a:t>
            </a:r>
            <a:r>
              <a:rPr lang="en-US" sz="2100" dirty="0">
                <a:solidFill>
                  <a:srgbClr val="1F2937"/>
                </a:solidFill>
              </a:rPr>
              <a:t>today: good output, weak continuity
</a:t>
            </a:r>
            <a:r>
              <a:rPr lang="en-US" sz="2100" b="1" dirty="0">
                <a:solidFill>
                  <a:srgbClr val="0F766E"/>
                </a:solidFill>
              </a:rPr>
              <a:t>• </a:t>
            </a:r>
            <a:r>
              <a:rPr lang="en-US" sz="2100" dirty="0">
                <a:solidFill>
                  <a:srgbClr val="1F2937"/>
                </a:solidFill>
              </a:rPr>
              <a:t>today: polished answers, fragile recovery
</a:t>
            </a:r>
            <a:r>
              <a:rPr lang="en-US" sz="2100" b="1" dirty="0">
                <a:solidFill>
                  <a:srgbClr val="0F766E"/>
                </a:solidFill>
              </a:rPr>
              <a:t>• </a:t>
            </a:r>
            <a:r>
              <a:rPr lang="en-US" sz="2100" dirty="0">
                <a:solidFill>
                  <a:srgbClr val="1F2937"/>
                </a:solidFill>
              </a:rPr>
              <a:t>today: ambiguity cleaned up too early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0F766E"/>
                </a:solidFill>
              </a:rPr>
              <a:t>•  </a:t>
            </a:r>
            <a:r>
              <a:rPr lang="en-US" sz="2100" dirty="0">
                <a:solidFill>
                  <a:srgbClr val="1F2937"/>
                </a:solidFill>
              </a:rPr>
              <a:t>today: no actual sense of time and timing
</a:t>
            </a:r>
            <a:r>
              <a:rPr lang="en-US" sz="2100" b="1" dirty="0">
                <a:solidFill>
                  <a:srgbClr val="0F766E"/>
                </a:solidFill>
              </a:rPr>
              <a:t>• </a:t>
            </a:r>
            <a:r>
              <a:rPr lang="en-US" sz="2100" dirty="0">
                <a:solidFill>
                  <a:srgbClr val="1F2937"/>
                </a:solidFill>
              </a:rPr>
              <a:t>T-Protocol separates mapping, continuation sensing, and contextual judgment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Slide 2  of 6 · T-Protocol: </a:t>
            </a:r>
            <a:r>
              <a:rPr lang="en-US" sz="1100" b="1" i="1" dirty="0">
                <a:solidFill>
                  <a:srgbClr val="6B7280"/>
                </a:solidFill>
              </a:rPr>
              <a:t>Why it matters</a:t>
            </a:r>
            <a:endParaRPr lang="en-US" sz="11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1078992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6858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HOW IT EMERGED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</a:rPr>
              <a:t>The protocol came out of repeated bounded testing, not from a branding exercise.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5264" y="1954970"/>
            <a:ext cx="10461472" cy="3119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F766E"/>
                </a:solidFill>
              </a:rPr>
              <a:t>• </a:t>
            </a:r>
            <a:r>
              <a:rPr lang="en-US" sz="2100" dirty="0">
                <a:solidFill>
                  <a:srgbClr val="1F2937"/>
                </a:solidFill>
              </a:rPr>
              <a:t>role separation stayed intact
</a:t>
            </a:r>
            <a:r>
              <a:rPr lang="en-US" sz="2100" b="1" dirty="0">
                <a:solidFill>
                  <a:srgbClr val="0F766E"/>
                </a:solidFill>
              </a:rPr>
              <a:t>• </a:t>
            </a:r>
            <a:r>
              <a:rPr lang="en-US" sz="2100" dirty="0">
                <a:solidFill>
                  <a:srgbClr val="1F2937"/>
                </a:solidFill>
              </a:rPr>
              <a:t>shared state preserved continuity across cycles
</a:t>
            </a:r>
            <a:r>
              <a:rPr lang="en-US" sz="2100" b="1" dirty="0">
                <a:solidFill>
                  <a:srgbClr val="0F766E"/>
                </a:solidFill>
              </a:rPr>
              <a:t>• </a:t>
            </a:r>
            <a:r>
              <a:rPr lang="en-US" sz="2100" dirty="0">
                <a:solidFill>
                  <a:srgbClr val="1F2937"/>
                </a:solidFill>
              </a:rPr>
              <a:t>mismatch did not force collapse
</a:t>
            </a:r>
            <a:r>
              <a:rPr lang="en-US" sz="2100" b="1" dirty="0">
                <a:solidFill>
                  <a:srgbClr val="0F766E"/>
                </a:solidFill>
              </a:rPr>
              <a:t>• </a:t>
            </a:r>
            <a:r>
              <a:rPr lang="en-US" sz="2100" dirty="0">
                <a:solidFill>
                  <a:srgbClr val="1F2937"/>
                </a:solidFill>
              </a:rPr>
              <a:t>revision, de-confirmation, restart, and recoupling became explicit engineering objects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Slide 3 of 6 · T-Protocol: </a:t>
            </a:r>
            <a:r>
              <a:rPr lang="en-US" sz="1100" b="1" i="1" dirty="0">
                <a:solidFill>
                  <a:srgbClr val="6B7280"/>
                </a:solidFill>
              </a:rPr>
              <a:t>Why this is credible</a:t>
            </a:r>
            <a:endParaRPr lang="en-US" sz="11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B4F7A9-8007-F082-797D-D5A9814E0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E741FD-5498-31B6-2E8C-857BB410C1E0}"/>
              </a:ext>
            </a:extLst>
          </p:cNvPr>
          <p:cNvSpPr/>
          <p:nvPr/>
        </p:nvSpPr>
        <p:spPr>
          <a:xfrm>
            <a:off x="685800" y="548640"/>
            <a:ext cx="1078992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82F53D-96F5-AF70-69AA-D22EDE644AB3}"/>
              </a:ext>
            </a:extLst>
          </p:cNvPr>
          <p:cNvSpPr/>
          <p:nvPr/>
        </p:nvSpPr>
        <p:spPr>
          <a:xfrm>
            <a:off x="777240" y="6858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6436C9B-31E7-497C-9E9D-57C9503B02D8}"/>
              </a:ext>
            </a:extLst>
          </p:cNvPr>
          <p:cNvSpPr/>
          <p:nvPr/>
        </p:nvSpPr>
        <p:spPr>
          <a:xfrm>
            <a:off x="777240" y="960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</a:rPr>
              <a:t> How T-Protocol sits in the stack.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988C8BD-E7BD-627B-5068-FAF3F1BE30E3}"/>
              </a:ext>
            </a:extLst>
          </p:cNvPr>
          <p:cNvSpPr/>
          <p:nvPr/>
        </p:nvSpPr>
        <p:spPr>
          <a:xfrm>
            <a:off x="822960" y="63550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Slide 4 of 6 · T-Protocol: </a:t>
            </a:r>
            <a:r>
              <a:rPr lang="en-US" sz="1100" b="1" i="1" dirty="0">
                <a:solidFill>
                  <a:srgbClr val="6B7280"/>
                </a:solidFill>
              </a:rPr>
              <a:t>Stack position</a:t>
            </a:r>
            <a:endParaRPr lang="en-US" sz="11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FB23D7-C944-1EB5-704F-E1CDA2E7B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92" y="1650402"/>
            <a:ext cx="10425717" cy="444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344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1078992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6858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STRATEGIC RELEVANCE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</a:rPr>
              <a:t>The likely value is not at the level of weights, but at the level of coordination infrastructure.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965966"/>
            <a:ext cx="10713721" cy="3154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F766E"/>
                </a:solidFill>
              </a:rPr>
              <a:t>• </a:t>
            </a:r>
            <a:r>
              <a:rPr lang="en-US" sz="2000" dirty="0">
                <a:solidFill>
                  <a:srgbClr val="1F2937"/>
                </a:solidFill>
              </a:rPr>
              <a:t>fits enterprise copilots, orchestration, supervisory autonomy, and anomaly-aware systems
</a:t>
            </a:r>
            <a:r>
              <a:rPr lang="en-US" sz="2000" b="1" dirty="0">
                <a:solidFill>
                  <a:srgbClr val="0F766E"/>
                </a:solidFill>
              </a:rPr>
              <a:t>• </a:t>
            </a:r>
            <a:r>
              <a:rPr lang="en-US" sz="2000" dirty="0">
                <a:solidFill>
                  <a:srgbClr val="1F2937"/>
                </a:solidFill>
              </a:rPr>
              <a:t>can be wrapped around existing model stacks
</a:t>
            </a:r>
            <a:r>
              <a:rPr lang="en-US" sz="2000" b="1" dirty="0">
                <a:solidFill>
                  <a:srgbClr val="0F766E"/>
                </a:solidFill>
              </a:rPr>
              <a:t>• </a:t>
            </a:r>
            <a:r>
              <a:rPr lang="en-US" sz="2000" dirty="0">
                <a:solidFill>
                  <a:srgbClr val="1F2937"/>
                </a:solidFill>
              </a:rPr>
              <a:t>offers a route toward more world-facing AI behavior without changing the base model category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59" y="6355080"/>
            <a:ext cx="3653347" cy="18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Slide 5 of 6 · T-Protocol: </a:t>
            </a:r>
            <a:r>
              <a:rPr lang="en-US" sz="1100" b="1" i="1" dirty="0">
                <a:solidFill>
                  <a:srgbClr val="6B7280"/>
                </a:solidFill>
              </a:rPr>
              <a:t>Why an institution should care</a:t>
            </a:r>
            <a:endParaRPr lang="en-US" sz="11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1078992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6858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NEXT STEP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</a:rPr>
              <a:t>A protected review should determine fit before any broader disclosure.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9692640" cy="3657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F766E"/>
                </a:solidFill>
              </a:rPr>
              <a:t>• </a:t>
            </a:r>
            <a:r>
              <a:rPr lang="en-US" sz="2100" dirty="0">
                <a:solidFill>
                  <a:srgbClr val="1F2937"/>
                </a:solidFill>
              </a:rPr>
              <a:t>review the protocol package under confidentiality
</a:t>
            </a:r>
            <a:r>
              <a:rPr lang="en-US" sz="2100" b="1" dirty="0">
                <a:solidFill>
                  <a:srgbClr val="0F766E"/>
                </a:solidFill>
              </a:rPr>
              <a:t>• </a:t>
            </a:r>
            <a:r>
              <a:rPr lang="en-US" sz="2100" dirty="0">
                <a:solidFill>
                  <a:srgbClr val="1F2937"/>
                </a:solidFill>
              </a:rPr>
              <a:t>test technical coherence and institutional fit
</a:t>
            </a:r>
            <a:r>
              <a:rPr lang="en-US" sz="2100" b="1" dirty="0">
                <a:solidFill>
                  <a:srgbClr val="0F766E"/>
                </a:solidFill>
              </a:rPr>
              <a:t>• </a:t>
            </a:r>
            <a:r>
              <a:rPr lang="en-US" sz="2100" dirty="0">
                <a:solidFill>
                  <a:srgbClr val="1F2937"/>
                </a:solidFill>
              </a:rPr>
              <a:t>separate what is reviewable from what remains protected
</a:t>
            </a:r>
            <a:r>
              <a:rPr lang="en-US" sz="2100" b="1" dirty="0">
                <a:solidFill>
                  <a:srgbClr val="0F766E"/>
                </a:solidFill>
              </a:rPr>
              <a:t>• </a:t>
            </a:r>
            <a:r>
              <a:rPr lang="en-US" sz="2100" dirty="0">
                <a:solidFill>
                  <a:srgbClr val="1F2937"/>
                </a:solidFill>
              </a:rPr>
              <a:t>decide whether deeper joint validation is warranted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63550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Slide 6 of 6 · T-Protocol: </a:t>
            </a:r>
            <a:r>
              <a:rPr lang="en-US" sz="1100" b="1" i="1" dirty="0">
                <a:solidFill>
                  <a:srgbClr val="6B7280"/>
                </a:solidFill>
              </a:rPr>
              <a:t>What to do next</a:t>
            </a:r>
            <a:endParaRPr lang="en-US" sz="11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549</Words>
  <Application>Microsoft Macintosh PowerPoint</Application>
  <PresentationFormat>Widescreen</PresentationFormat>
  <Paragraphs>36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T-Protocol — imec institutional version</dc:title>
  <dc:subject>T-Protocol — imec institutional version</dc:subject>
  <dc:creator>OpenAI</dc:creator>
  <cp:lastModifiedBy>Marcus van der Erve</cp:lastModifiedBy>
  <cp:revision>4</cp:revision>
  <cp:lastPrinted>2026-04-17T10:34:29Z</cp:lastPrinted>
  <dcterms:created xsi:type="dcterms:W3CDTF">2026-04-17T07:10:22Z</dcterms:created>
  <dcterms:modified xsi:type="dcterms:W3CDTF">2026-04-17T10:35:01Z</dcterms:modified>
</cp:coreProperties>
</file>